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6B53"/>
                </a:solidFill>
              </a:defRPr>
            </a:pPr>
            <a:r>
              <a:t>SVKM'S NMIMS — MPSTME • DEPARTMENT OF COMPUTER ENGINEERING</a:t>
            </a:r>
          </a:p>
          <a:p>
            <a:pPr>
              <a:spcAft>
                <a:spcPts val="1400"/>
              </a:spcAft>
              <a:defRPr sz="3200" b="1">
                <a:solidFill>
                  <a:srgbClr val="493F3A"/>
                </a:solidFill>
              </a:defRPr>
            </a:pPr>
            <a:r>
              <a:t>Skin Cancer Detection Using Deep Learning and TensorFlow</a:t>
            </a:r>
          </a:p>
          <a:p>
            <a:pPr>
              <a:spcAft>
                <a:spcPts val="2800"/>
              </a:spcAft>
              <a:defRPr sz="1600">
                <a:solidFill>
                  <a:srgbClr val="B86B77"/>
                </a:solidFill>
              </a:defRPr>
            </a:pPr>
            <a:r>
              <a:t>A Full-Stack Educational Screening System with MobileNetV2 CNN, RBAC Admin Console &amp; Clinical PDF Reports</a:t>
            </a:r>
          </a:p>
          <a:p>
            <a:pPr>
              <a:defRPr sz="1400" b="1">
                <a:solidFill>
                  <a:srgbClr val="493F3A"/>
                </a:solidFill>
              </a:defRPr>
            </a:pPr>
            <a:r>
              <a:t>Student Authors: Bhavi Doshi (C078)  •  Vivaan Sanghvi (C063)  •  Vidisha Ajmera (C084)</a:t>
            </a:r>
          </a:p>
          <a:p>
            <a:pPr>
              <a:defRPr sz="1200">
                <a:solidFill>
                  <a:srgbClr val="493F3A"/>
                </a:solidFill>
              </a:defRPr>
            </a:pPr>
            <a:r>
              <a:t>Technology Stack: Python 3.13, Flask, TensorFlow 2.21, Keras 3.15, SQLite, ReportLab, HTML5/CSS3</a:t>
            </a:r>
          </a:p>
          <a:p>
            <a:pPr>
              <a:defRPr sz="1100">
                <a:solidFill>
                  <a:srgbClr val="4A6B53"/>
                </a:solidFill>
              </a:defRPr>
            </a:pPr>
            <a:r>
              <a:t>Active Repository Location: D:\SE\SkinCancerDetection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6B77"/>
                </a:solidFill>
              </a:defRPr>
            </a:pPr>
            <a:r>
              <a:t>SOFTWARE ENGINEERING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93F3A"/>
                </a:solidFill>
              </a:defRPr>
            </a:pPr>
            <a:r>
              <a:t>Introduction &amp; Clinical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400">
                <a:solidFill>
                  <a:srgbClr val="493F3A"/>
                </a:solidFill>
              </a:defRPr>
            </a:pPr>
            <a:r>
              <a:t>•  Clinical Need &amp; Early Screening: </a:t>
            </a:r>
            <a:r>
              <a:rPr b="0" sz="1300"/>
              <a:t>Skin malignancies (melanoma, basal cell carcinoma, actinic keratoses) carry dramatically higher survival rates when detected early. However, access to board-certified dermatologists is constrained in primary healthcare and rural regions.</a:t>
            </a:r>
          </a:p>
          <a:p>
            <a:pPr>
              <a:spcAft>
                <a:spcPts val="1400"/>
              </a:spcAft>
              <a:defRPr b="1" sz="1400">
                <a:solidFill>
                  <a:srgbClr val="493F3A"/>
                </a:solidFill>
              </a:defRPr>
            </a:pPr>
            <a:r>
              <a:t>•  Computer Vision Potential: </a:t>
            </a:r>
            <a:r>
              <a:rPr b="0" sz="1300"/>
              <a:t>Convolutional Neural Networks (CNNs) excel at extracting subtle spatial textures, pigment networks, and border irregularities from dermoscopic lesion photography.</a:t>
            </a:r>
          </a:p>
          <a:p>
            <a:pPr>
              <a:spcAft>
                <a:spcPts val="1400"/>
              </a:spcAft>
              <a:defRPr b="1" sz="1400">
                <a:solidFill>
                  <a:srgbClr val="493F3A"/>
                </a:solidFill>
              </a:defRPr>
            </a:pPr>
            <a:r>
              <a:t>•  End-to-End Software Engineering: </a:t>
            </a:r>
            <a:r>
              <a:rPr b="0" sz="1300"/>
              <a:t>Bridging research prototypes into real-world utility requires a secure, responsive, and ethical web application with robust authentication, defensive image validation, persistent database storage, and role-based access control.</a:t>
            </a:r>
          </a:p>
          <a:p>
            <a:pPr>
              <a:spcAft>
                <a:spcPts val="1400"/>
              </a:spcAft>
              <a:defRPr b="1" sz="1400">
                <a:solidFill>
                  <a:srgbClr val="493F3A"/>
                </a:solidFill>
              </a:defRPr>
            </a:pPr>
            <a:r>
              <a:t>•  Academic Research Scope: </a:t>
            </a:r>
            <a:r>
              <a:rPr b="0" sz="1300"/>
              <a:t>Engineered as an academic educational screening platform. Strictly non-diagnostic; enforces prominent medical disclaimers to ensure responsible user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6B77"/>
                </a:solidFill>
              </a:defRPr>
            </a:pPr>
            <a:r>
              <a:t>SOFTWARE ENGINEERING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93F3A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B86B77"/>
                </a:solidFill>
              </a:defRPr>
            </a:pPr>
            <a:r>
              <a:t>Formal Problem Statement:</a:t>
            </a:r>
          </a:p>
          <a:p>
            <a:pPr>
              <a:spcAft>
                <a:spcPts val="1600"/>
              </a:spcAft>
              <a:defRPr sz="1300" i="1"/>
            </a:pPr>
            <a:r>
              <a:t>“To design, implement, and evaluate an accessible, secure, and responsive web-based preliminary screening platform that ingests dermatological lesion photographs, performs rigorous input validation and preprocessing, and executes genuine TensorFlow/Keras deep learning inference across standard diagnostic categories, while maintaining persistent user records, role-based admin controls, and adhering to strict clinical safety disclaimers.”</a:t>
            </a:r>
          </a:p>
          <a:p>
            <a:pPr>
              <a:defRPr b="1" sz="1500">
                <a:solidFill>
                  <a:srgbClr val="4A6B53"/>
                </a:solidFill>
              </a:defRPr>
            </a:pPr>
            <a:r>
              <a:t>Key Implemented Objectives:</a:t>
            </a:r>
          </a:p>
          <a:p>
            <a:pPr>
              <a:spcAft>
                <a:spcPts val="800"/>
              </a:spcAft>
              <a:defRPr sz="1300">
                <a:solidFill>
                  <a:srgbClr val="493F3A"/>
                </a:solidFill>
              </a:defRPr>
            </a:pPr>
            <a:r>
              <a:t>•  1. Full-Stack Web Architecture: Built modular Flask blueprints (auth, main, analysis, testing, admin).</a:t>
            </a:r>
          </a:p>
          <a:p>
            <a:pPr>
              <a:spcAft>
                <a:spcPts val="800"/>
              </a:spcAft>
              <a:defRPr sz="1300">
                <a:solidFill>
                  <a:srgbClr val="493F3A"/>
                </a:solidFill>
              </a:defRPr>
            </a:pPr>
            <a:r>
              <a:t>•  2. Defensive Security: Password hashing with scrypt, RBAC (@admin_required), and deep image validation (MIME/resolution/channels).</a:t>
            </a:r>
          </a:p>
          <a:p>
            <a:pPr>
              <a:spcAft>
                <a:spcPts val="800"/>
              </a:spcAft>
              <a:defRPr sz="1300">
                <a:solidFill>
                  <a:srgbClr val="493F3A"/>
                </a:solidFill>
              </a:defRPr>
            </a:pPr>
            <a:r>
              <a:t>•  3. Live 7-Class Deep Learning: Integrated MobileNetV2 pre-trained CNN yielding authentic class probability distributions.</a:t>
            </a:r>
          </a:p>
          <a:p>
            <a:pPr>
              <a:spcAft>
                <a:spcPts val="800"/>
              </a:spcAft>
              <a:defRPr sz="1300">
                <a:solidFill>
                  <a:srgbClr val="493F3A"/>
                </a:solidFill>
              </a:defRPr>
            </a:pPr>
            <a:r>
              <a:t>•  4. Persistent Clinical Records: SQLite data layer tracking patient scans, isolation boundaries, and automated PDF report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6B77"/>
                </a:solidFill>
              </a:defRPr>
            </a:pPr>
            <a:r>
              <a:t>SOFTWARE ENGINEERING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93F3A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Presentation Layer (Frontend): </a:t>
            </a:r>
            <a:r>
              <a:rPr b="0" sz="1300"/>
              <a:t>HTML5, CSS3, JavaScript. Calming pastel healthcare aesthetic (blush pink #F4DDE2, warm beige #F5EBDD, sage green #DCE8D5). Fully mobile-responsive.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Application &amp; Web Layer (Backend): </a:t>
            </a:r>
            <a:r>
              <a:rPr b="0" sz="1300"/>
              <a:t>Python 3.13 + Flask microframework. Structured with 5 modular blueprints: auth_bp, main_bp, analysis_bp, testing_bp, admin_bp.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Deep Learning &amp; Computer Vision: </a:t>
            </a:r>
            <a:r>
              <a:rPr b="0" sz="1300"/>
              <a:t>TensorFlow 2.21 + Keras 3.15 + OpenCV + Pillow + NumPy. MobileNetV2 architecture with transfer learning specialized for 7 HAM10000 classes.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Data Persistence &amp; Clinical Reporting: </a:t>
            </a:r>
            <a:r>
              <a:rPr b="0" sz="1300"/>
              <a:t>SQLite isolated relational database (instance/skin_cancer.db) + ReportLab PDF generation engine synthesizing multi-page screening summaries.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Automated Quality Assurance: </a:t>
            </a:r>
            <a:r>
              <a:rPr b="0" sz="1300"/>
              <a:t>Pytest test framework with 21 unit, functional, security, and integration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6B77"/>
                </a:solidFill>
              </a:defRPr>
            </a:pPr>
            <a:r>
              <a:t>SOFTWARE ENGINEERING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93F3A"/>
                </a:solidFill>
              </a:defRPr>
            </a:pPr>
            <a:r>
              <a:t>Benchmark Dataset &amp; Defensive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Primary Dataset: </a:t>
            </a:r>
            <a:r>
              <a:rPr b="0" sz="1300"/>
              <a:t>HAM10000 ('Human Against Machine with 10,000 training images') dermatoscopic collection, acquired via the official ISIC Archive.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7 Diagnostic Categories: </a:t>
            </a:r>
            <a:r>
              <a:rPr b="0" sz="1300"/>
              <a:t>Actinic Keratoses (akiec), Basal Cell Carcinoma (bcc), Benign Keratosis-like (bkl), Dermatofibroma (df), Melanoma (mel), Melanocytic Nevi (nv), Vascular Lesions (vasc).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Defensive Preprocessing: </a:t>
            </a:r>
            <a:r>
              <a:rPr b="0" sz="1300"/>
              <a:t>Strict dimension checks (50x50 to 6000x6000), Pillow format verification, RGB conversion, aspect ratio checks, and standard 224x224 normalization for MobileNetV2.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Leakage Prevention: </a:t>
            </a:r>
            <a:r>
              <a:rPr b="0" sz="1300"/>
              <a:t>Lesion-level grouping (lesion_id) ensures that multiple photographs of the same anatomical lesion never cross between training, validation, and held-out test splits.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6B77"/>
                </a:solidFill>
              </a:defRPr>
            </a:pPr>
            <a:r>
              <a:t>SOFTWARE ENGINEERING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93F3A"/>
                </a:solidFill>
              </a:defRPr>
            </a:pPr>
            <a:r>
              <a:t>Deep Learning Architecture: MobileNetV2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Base Architecture: </a:t>
            </a:r>
            <a:r>
              <a:rPr b="0" sz="1300"/>
              <a:t>MobileNetV2 pre-trained on ImageNet. Utilizes depthwise separable convolutions and inverted residual bottleneck blocks for lightweight, low-latency inference.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Transfer Learning Custom Head: </a:t>
            </a:r>
            <a:r>
              <a:rPr b="0" sz="1300"/>
              <a:t>GlobalAveragePooling2D -&gt; BatchNormalization -&gt; Dense(128, ReLU) -&gt; Dropout(0.40) -&gt; Dense(7, Softmax).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Class Imbalance Strategy: </a:t>
            </a:r>
            <a:r>
              <a:rPr b="0" sz="1300"/>
              <a:t>Balanced class weights computed dynamically across under-represented malignant categories (mel, bcc, akiec) vs majority benign moles (nv).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Inference Execution: </a:t>
            </a:r>
            <a:r>
              <a:rPr b="0" sz="1300"/>
              <a:t>Live Python service (model_service.py) transforms incoming PIL images, executes model.predict(), maps softmax outputs across all 7 diagnostic classes, and computes risk stratification.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6B77"/>
                </a:solidFill>
              </a:defRPr>
            </a:pPr>
            <a:r>
              <a:t>SOFTWARE ENGINEERING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93F3A"/>
                </a:solidFill>
              </a:defRPr>
            </a:pPr>
            <a:r>
              <a:t>Defensive Security, RBAC &amp; Administrator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Authentication &amp; Password Storage: </a:t>
            </a:r>
            <a:r>
              <a:rPr b="0" sz="1300"/>
              <a:t>User passwords hashed using the cryptographic scrypt algorithm. Sessions securely managed; supports flexible login via email or unique username.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Role-Based Access Control (RBAC): </a:t>
            </a:r>
            <a:r>
              <a:rPr b="0" sz="1300"/>
              <a:t>Users partitioned into patient, physician, and admin roles. The @admin_required decorator protects administrative routes, issuing HTTP 403 Forbidden for unauthorized roles.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Administrator Command Center (/admin): </a:t>
            </a:r>
            <a:r>
              <a:rPr b="0" sz="1300"/>
              <a:t>Dedicated surveillance console tracking deep learning model telemetry, file storage statistics, user roster (read-only; no password hashes exposed), and global screening logs.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Patient Data Isolation: </a:t>
            </a:r>
            <a:r>
              <a:rPr b="0" sz="1300"/>
              <a:t>Strict per-user query scoping ensures patient records, uploaded dermoscopic imagery, and PDF screening reports cannot be accessed or downloaded across different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6B77"/>
                </a:solidFill>
              </a:defRPr>
            </a:pPr>
            <a:r>
              <a:t>SOFTWARE ENGINEERING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93F3A"/>
                </a:solidFill>
              </a:defRPr>
            </a:pPr>
            <a:r>
              <a:t>Software Engineering Verification &amp; Automated Test Suites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Automated Test Suite (21 Tests): </a:t>
            </a:r>
            <a:r>
              <a:rPr b="0" sz="1300"/>
              <a:t>Complete pytest test suite covering authentication (TC-01, TC-02), administrative RBAC security, image validation (TC-03), model inference, history isolation (TC-04), and test case redirects.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Defensive Input Rejection: </a:t>
            </a:r>
            <a:r>
              <a:rPr b="0" sz="1300"/>
              <a:t>Verified automatic rejection and safe error handling for non-image text files, corrupted headers, oversized payloads (&gt;10MB), and missing uploads.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Clean UI Architecture: </a:t>
            </a:r>
            <a:r>
              <a:rPr b="0" sz="1300"/>
              <a:t>Per project requirements, the internal test-case execution data is preserved in SQLite, while legacy test-case tables were cleanly retired from public navigation with seamless redirects.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100% Verification Rate: </a:t>
            </a:r>
            <a:r>
              <a:rPr b="0" sz="1300"/>
              <a:t>All 21 automated test cases pass cleanly with zero failures or deprecation regressions.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6B77"/>
                </a:solidFill>
              </a:defRPr>
            </a:pPr>
            <a:r>
              <a:t>SOFTWARE ENGINEERING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93F3A"/>
                </a:solidFill>
              </a:defRPr>
            </a:pPr>
            <a:r>
              <a:t>Experimental Results &amp; Verification Performance</a:t>
            </a:r>
          </a:p>
        </p:txBody>
      </p:sp>
      <p:pic>
        <p:nvPicPr>
          <p:cNvPr id="4" name="Picture 3" descr="project_results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4654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6B77"/>
                </a:solidFill>
              </a:defRPr>
            </a:pPr>
            <a:r>
              <a:t>SOFTWARE ENGINEERING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93F3A"/>
                </a:solidFill>
              </a:defRPr>
            </a:pPr>
            <a:r>
              <a:t>Live Application Demonstration &amp; User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Presentation Demo Member Account: </a:t>
            </a:r>
            <a:r>
              <a:rPr b="0" sz="1300"/>
              <a:t>Full Name: Bhavi Doshi | Username: bhavi12 | Email: bhavidoshi12@gmail.com | Password: Bhavi@2026! (Role: Patient).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System Administrator Account: </a:t>
            </a:r>
            <a:r>
              <a:rPr b="0" sz="1300"/>
              <a:t>Full Name: System Administrator | Username: admin | Email: admin@dermacare.ai | Password: Admin@2026!Demo (Role: Admin).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Member Flow Demonstrated: </a:t>
            </a:r>
            <a:r>
              <a:rPr b="0" sz="1300"/>
              <a:t>Sign in via username/email -&gt; User Dashboard with preloaded history -&gt; Upload dermoscopic image -&gt; Real-time 7-class prediction &amp; risk badge -&gt; Instant PDF report download.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Administrator Flow Demonstrated: </a:t>
            </a:r>
            <a:r>
              <a:rPr b="0" sz="1300"/>
              <a:t>Sign in as Admin -&gt; Access /admin console -&gt; Inspect model telemetry, database metrics, read-only user roster, and global screening surveillance.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6B77"/>
                </a:solidFill>
              </a:defRPr>
            </a:pPr>
            <a:r>
              <a:t>SOFTWARE ENGINEERING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93F3A"/>
                </a:solidFill>
              </a:defRPr>
            </a:pPr>
            <a:r>
              <a:t>Current Limitations &amp; 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Current Limitations: </a:t>
            </a:r>
            <a:r>
              <a:rPr b="0" sz="1300"/>
              <a:t>Model trained on a subset to respect CPU hardware constraints; uses 2D dermoscopic imagery without clinical patient metadata (age, sex, anatomical site); not clinically certified.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Dataset Scaling &amp; GPU Training: </a:t>
            </a:r>
            <a:r>
              <a:rPr b="0" sz="1300"/>
              <a:t>Scale model training across the full 10,015 HAM10000 images using GPU cloud instances (AWS/GCP) with cosine decay learning rates.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Explainable AI (XAI) Integration: </a:t>
            </a:r>
            <a:r>
              <a:rPr b="0" sz="1300"/>
              <a:t>Incorporate Grad-CAM (Gradient-weighted Class Activation Mapping) heatmaps to visually highlight the exact lesion regions influencing neural decisions.</a:t>
            </a:r>
          </a:p>
          <a:p>
            <a:pPr>
              <a:spcAft>
                <a:spcPts val="1200"/>
              </a:spcAft>
              <a:defRPr b="1" sz="1400">
                <a:solidFill>
                  <a:srgbClr val="493F3A"/>
                </a:solidFill>
              </a:defRPr>
            </a:pPr>
            <a:r>
              <a:t>•  Multi-Modal Clinical Fusion: </a:t>
            </a:r>
            <a:r>
              <a:rPr b="0" sz="1300"/>
              <a:t>Combine patient demographic features (age, gender, anatomical location) alongside deep visual feature embeddings for enhanced diagnostic sensitivity.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6B77"/>
                </a:solidFill>
              </a:defRPr>
            </a:pPr>
            <a:r>
              <a:t>SOFTWARE ENGINEERING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93F3A"/>
                </a:solidFill>
              </a:defRPr>
            </a:pPr>
            <a:r>
              <a:t>Conclusion &amp; Academic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4A6B53"/>
                </a:solidFill>
              </a:defRPr>
            </a:pPr>
            <a:r>
              <a:t>Project Summary:</a:t>
            </a:r>
          </a:p>
          <a:p>
            <a:pPr>
              <a:spcAft>
                <a:spcPts val="1400"/>
              </a:spcAft>
              <a:defRPr sz="1300">
                <a:solidFill>
                  <a:srgbClr val="493F3A"/>
                </a:solidFill>
              </a:defRPr>
            </a:pPr>
            <a:r>
              <a:t>• Successfully built an end-to-end, responsible Software Engineering system uniting deep learning with a calm, user-friendly healthcare portal.</a:t>
            </a:r>
            <a:br/>
            <a:r>
              <a:t>• Safely migrated to D:\SE\SkinCancerDetection with 100% data preservation and verified across 21 automated test suites.</a:t>
            </a:r>
            <a:br/>
            <a:r>
              <a:t>• Fully equipped with demonstration accounts, administrative RBAC controls, and automated PDF reporting.</a:t>
            </a:r>
          </a:p>
          <a:p>
            <a:pPr>
              <a:defRPr b="1" sz="1500">
                <a:solidFill>
                  <a:srgbClr val="B86B77"/>
                </a:solidFill>
              </a:defRPr>
            </a:pPr>
            <a:r>
              <a:t>Key Academic References:</a:t>
            </a:r>
          </a:p>
          <a:p>
            <a:pPr>
              <a:spcAft>
                <a:spcPts val="400"/>
              </a:spcAft>
              <a:defRPr sz="1100">
                <a:solidFill>
                  <a:srgbClr val="493F3A"/>
                </a:solidFill>
              </a:defRPr>
            </a:pPr>
            <a:r>
              <a:t>1. Tschandl, P., Rosendahl, C. &amp; Kittler, H. The HAM10000 dataset, a large collection of multi-source dermatoscopic images of common pigmented skin lesions. Sci Data 5, 180161 (2018).</a:t>
            </a:r>
          </a:p>
          <a:p>
            <a:pPr>
              <a:spcAft>
                <a:spcPts val="400"/>
              </a:spcAft>
              <a:defRPr sz="1100">
                <a:solidFill>
                  <a:srgbClr val="493F3A"/>
                </a:solidFill>
              </a:defRPr>
            </a:pPr>
            <a:r>
              <a:t>2. Sandler, M., Howard, A., Zhu, M., Zhmoginov, A. &amp; Chen, L.C. MobileNetV2: Inverted Residuals and Linear Bottlenecks. CVPR (2018).</a:t>
            </a:r>
          </a:p>
          <a:p>
            <a:pPr>
              <a:spcAft>
                <a:spcPts val="400"/>
              </a:spcAft>
              <a:defRPr sz="1100">
                <a:solidFill>
                  <a:srgbClr val="493F3A"/>
                </a:solidFill>
              </a:defRPr>
            </a:pPr>
            <a:r>
              <a:t>3. International Skin Imaging Collaboration (ISIC Archive) Challenge Datasets, 2018-2026.</a:t>
            </a:r>
          </a:p>
          <a:p>
            <a:pPr>
              <a:spcAft>
                <a:spcPts val="400"/>
              </a:spcAft>
              <a:defRPr sz="1100">
                <a:solidFill>
                  <a:srgbClr val="493F3A"/>
                </a:solidFill>
              </a:defRPr>
            </a:pPr>
            <a:r>
              <a:t>4. Software Engineering Experiment 01 Specification (Exp1_C078_SE.docx) — SVKM's NMIMS MPSTME.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